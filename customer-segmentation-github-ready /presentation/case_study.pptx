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F1B2A"/>
                </a:solidFill>
                <a:latin typeface="+mn-lt"/>
              </a:defRPr>
            </a:pPr>
            <a:r>
              <a:rPr sz="1250" b="0" i="0" u="none" strike="noStrike">
                <a:solidFill>
                  <a:srgbClr val="0F1B2A"/>
                </a:solidFill>
                <a:latin typeface="+mn-lt"/>
              </a:rPr>
              <a:t>Share of customers vs share of estimated revenue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customers</c:v>
                </c:pt>
              </c:strCache>
            </c:strRef>
          </c:tx>
          <c:spPr>
            <a:solidFill>
              <a:srgbClr val="C7CCD4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0F1B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Premier Advocates</c:v>
                  </c:pt>
                  <c:pt idx="1">
                    <c:v>Established Core</c:v>
                  </c:pt>
                  <c:pt idx="2">
                    <c:v>Affluent Drifters</c:v>
                  </c:pt>
                  <c:pt idx="3">
                    <c:v>Engaged Builders</c:v>
                  </c:pt>
                  <c:pt idx="4">
                    <c:v>Light Touch</c:v>
                  </c:pt>
                  <c:pt idx="5">
                    <c:v>Dormant &amp; Low Value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13.9</c:v>
                </c:pt>
                <c:pt idx="1">
                  <c:v>27.3</c:v>
                </c:pt>
                <c:pt idx="2">
                  <c:v>4.6</c:v>
                </c:pt>
                <c:pt idx="3">
                  <c:v>13.8</c:v>
                </c:pt>
                <c:pt idx="4">
                  <c:v>27.6</c:v>
                </c:pt>
                <c:pt idx="5">
                  <c:v>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of est. revenue</c:v>
                </c:pt>
              </c:strCache>
            </c:strRef>
          </c:tx>
          <c:spPr>
            <a:solidFill>
              <a:srgbClr val="0F3B57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0F1B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Premier Advocates</c:v>
                  </c:pt>
                  <c:pt idx="1">
                    <c:v>Established Core</c:v>
                  </c:pt>
                  <c:pt idx="2">
                    <c:v>Affluent Drifters</c:v>
                  </c:pt>
                  <c:pt idx="3">
                    <c:v>Engaged Builders</c:v>
                  </c:pt>
                  <c:pt idx="4">
                    <c:v>Light Touch</c:v>
                  </c:pt>
                  <c:pt idx="5">
                    <c:v>Dormant &amp; Low Value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41.5</c:v>
                </c:pt>
                <c:pt idx="1">
                  <c:v>33.7</c:v>
                </c:pt>
                <c:pt idx="2">
                  <c:v>12.1</c:v>
                </c:pt>
                <c:pt idx="3">
                  <c:v>6</c:v>
                </c:pt>
                <c:pt idx="4">
                  <c:v>5.6</c:v>
                </c:pt>
                <c:pt idx="5">
                  <c:v>1.1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0F1B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7CCD4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B849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0F1B2A"/>
                </a:solidFill>
                <a:latin typeface="+mn-lt"/>
              </a:defRPr>
            </a:pPr>
            <a:r>
              <a:rPr sz="1250" b="0" i="0" u="none" strike="noStrike">
                <a:solidFill>
                  <a:srgbClr val="0F1B2A"/>
                </a:solidFill>
                <a:latin typeface="+mn-lt"/>
              </a:rPr>
              <a:t>Attrition when the signal is present ÷ book rate (9.9%)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Lift vs book attrition rate</c:v>
                </c:pt>
              </c:strCache>
            </c:strRef>
          </c:tx>
          <c:spPr>
            <a:solidFill>
              <a:srgbClr val="0F3B57"/>
            </a:solidFill>
            <a:effectLst/>
          </c:spPr>
          <c:invertIfNegative val="0"/>
          <c:dLbls>
            <c:numFmt formatCode="0.0&quot;×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0F1B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App registered but unused 30+ days</c:v>
                  </c:pt>
                  <c:pt idx="1">
                    <c:v>No transaction for 45+ days</c:v>
                  </c:pt>
                  <c:pt idx="2">
                    <c:v>2+ complaints in 12 months</c:v>
                  </c:pt>
                  <c:pt idx="3">
                    <c:v>Deposits down 15%+ over 6 months</c:v>
                  </c:pt>
                  <c:pt idx="4">
                    <c:v>Current account only</c:v>
                  </c:pt>
                  <c:pt idx="5">
                    <c:v>Not main bank</c:v>
                  </c:pt>
                  <c:pt idx="6">
                    <c:v>Card utilisation 85%+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3.04</c:v>
                </c:pt>
                <c:pt idx="1">
                  <c:v>2.52</c:v>
                </c:pt>
                <c:pt idx="2">
                  <c:v>2.16</c:v>
                </c:pt>
                <c:pt idx="3">
                  <c:v>2.1</c:v>
                </c:pt>
                <c:pt idx="4">
                  <c:v>1.54</c:v>
                </c:pt>
                <c:pt idx="5">
                  <c:v>1.51</c:v>
                </c:pt>
                <c:pt idx="6">
                  <c:v>0</c:v>
                </c:pt>
              </c:numCache>
            </c:numRef>
          </c:val>
        </c:ser>
        <c:dLbls>
          <c:numFmt formatCode="0.0&quot;×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0F1B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7CCD4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6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B849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Portfolio case study. The dataset is generated from a seeded simulation – no real customer data is used anywhere.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Synthetic observation = what the fictional data shows. Model assumption = a modelling choice that could reasonably differ. Hypothetical = an intervention scenario, not a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generator records every injected problem in a manifest, so cleaning can be tested against ground truth. The income check finds 36 of 38 injected unit errors because two of those rows were later blanked by the missing-income injection.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Fixed cut-offs (not percentiles) mean a customer only changes segment when their own behaviour changes. Bands sit near the 70th and 30th percentile of this synthetic 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findings describe the synthetic book. Revenue is a proxy built from illustrative margin assumptions.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Strongest coefficients: frequency, product adoption, main-bank status and deposit trend (protective); complaints (risk). 7 customers with a missing input are not scored rather than imputed.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number on this slide follows directly from its assumption. The pilot turns assumptions into measured effects before any budget is scaled.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Limitations are stated up front so the framework is credible: it demonstrates method on synthetic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920240"/>
            <a:ext cx="108813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8494"/>
                </a:solidFill>
              </a:rPr>
              <a:t>Customer Segmentation &amp; Retention Analytics · Ahsan Anas · SYNTHETIC DATA – fictional customers and results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4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4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17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EC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CASE STUDY · FINANCIAL SERVICES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92024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Customer Segmentation &amp; Retention Analytics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6576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CE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Segmenting 4,000 fictional retail-banking customers by relationship value and engagement, and finding the early signs that they are about to leave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800600"/>
            <a:ext cx="237744" cy="23774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4800600"/>
            <a:ext cx="237744" cy="23774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08176" y="4800600"/>
            <a:ext cx="237744" cy="237744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2224" y="4800600"/>
            <a:ext cx="237744" cy="237744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76272" y="4800600"/>
            <a:ext cx="237744" cy="237744"/>
          </a:xfrm>
          <a:prstGeom prst="ellipse">
            <a:avLst/>
          </a:prstGeom>
          <a:solidFill>
            <a:srgbClr val="E87BA4"/>
          </a:solidFill>
          <a:ln w="12700">
            <a:solidFill>
              <a:srgbClr val="E87BA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0320" y="4800600"/>
            <a:ext cx="237744" cy="237744"/>
          </a:xfrm>
          <a:prstGeom prst="ellipse">
            <a:avLst/>
          </a:prstGeom>
          <a:solidFill>
            <a:srgbClr val="008300"/>
          </a:solidFill>
          <a:ln w="12700">
            <a:solidFill>
              <a:srgbClr val="0083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5532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Ahsan Anas · October 2026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8978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E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customers, data and results are synthetic. Built with AI assistance (Claude) under the author's direction – see README.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THE BUSINESS PROBLEM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Which customers create value, which are drifting away, and what should we do about it?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 bank's customer book is rarely one market. </a:t>
            </a:r>
            <a:pPr indent="0" marL="0">
              <a:buNone/>
            </a:pPr>
            <a:r>
              <a:rPr lang="en-US" sz="150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customers can be quietly disengaging, while highly engaged customers may hold only one product. Treating them all the same wastes retention budget and misses growth.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17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this project answers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38328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our customer segments, and how much value does each hold?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behaviours separate engaged from drifting customers?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warning signals predict attrition – and how much revenue is at risk?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interventions are worth testing, and how would we test them?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6002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801368"/>
            <a:ext cx="530352" cy="530352"/>
          </a:xfrm>
          <a:prstGeom prst="ellipse">
            <a:avLst/>
          </a:prstGeom>
          <a:solidFill>
            <a:srgbClr val="0F3B57"/>
          </a:solidFill>
          <a:ln w="12700">
            <a:solidFill>
              <a:srgbClr val="0F3B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18013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1709928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simulation of 4,000 fictional customers with linked behaviours, plus realistic data errors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6791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2880360"/>
            <a:ext cx="530352" cy="530352"/>
          </a:xfrm>
          <a:prstGeom prst="ellipse">
            <a:avLst/>
          </a:prstGeom>
          <a:solidFill>
            <a:srgbClr val="0F3B57"/>
          </a:solidFill>
          <a:ln w="12700">
            <a:solidFill>
              <a:srgbClr val="0F3B5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28803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278892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validate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logged checks; nothing imputed; 39/39 automated checks pass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37581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959352"/>
            <a:ext cx="530352" cy="530352"/>
          </a:xfrm>
          <a:prstGeom prst="ellipse">
            <a:avLst/>
          </a:prstGeom>
          <a:solidFill>
            <a:srgbClr val="0F3B57"/>
          </a:solidFill>
          <a:ln w="12700">
            <a:solidFill>
              <a:srgbClr val="0F3B5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39593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3867912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proxy × Relationship Engagement Index → six actionable segments, stress-tested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48371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5038344"/>
            <a:ext cx="530352" cy="530352"/>
          </a:xfrm>
          <a:prstGeom prst="ellipse">
            <a:avLst/>
          </a:prstGeom>
          <a:solidFill>
            <a:srgbClr val="0F3B57"/>
          </a:solidFill>
          <a:ln w="12700">
            <a:solidFill>
              <a:srgbClr val="0F3B5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50383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4946904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&amp; grow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signals, an attrition model, sized hypothetical interventions and a pilot design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715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used throughout: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514600" y="5733288"/>
            <a:ext cx="1565453" cy="237744"/>
          </a:xfrm>
          <a:prstGeom prst="roundRect">
            <a:avLst>
              <a:gd name="adj" fmla="val 46154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514600" y="5733288"/>
            <a:ext cx="15654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1C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OBSERVATION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217213" y="5733288"/>
            <a:ext cx="1236269" cy="237744"/>
          </a:xfrm>
          <a:prstGeom prst="roundRect">
            <a:avLst>
              <a:gd name="adj" fmla="val 46154"/>
            </a:avLst>
          </a:prstGeom>
          <a:solidFill>
            <a:srgbClr val="EFE9FB"/>
          </a:solidFill>
          <a:ln w="12700">
            <a:solidFill>
              <a:srgbClr val="EFE9F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17213" y="5733288"/>
            <a:ext cx="12362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4B3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ASSUMPTION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590642" y="5733288"/>
            <a:ext cx="972922" cy="237744"/>
          </a:xfrm>
          <a:prstGeom prst="roundRect">
            <a:avLst>
              <a:gd name="adj" fmla="val 46154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590642" y="5733288"/>
            <a:ext cx="97292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4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DATASET AND DATA CLEANING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4,085 raw rows became 4,000 clean customer records – and no value was invented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1618488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fictional customers, 39 fields: demographics, balances, products, transactions, digital, service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157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423160" y="2734056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cleaning checks catching every injected issue type (681 injected problems)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83133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423160" y="3849624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imputed – blanks stay blank and scores use only the fields available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94690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39/39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496519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validation checks pass (reproducibility, integrity, calculations, Excel = Python)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600200"/>
          <a:ext cx="585216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548640"/>
                <a:gridCol w="27889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 found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duplicates + re-ingested older snapshots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 duplicates; kept each customer's newest record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/ employment coding variants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Standardised ('METRO', 'Metropolitan' → Metro)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date formats (DD/MM/YYYY vs ISO)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Parsed each format explicitly – no guessing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recorded in thousands (e.g. 54.3)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×1,000 unit fix, flagged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Impossible ages, sentinel tenure (−1), future dates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to missing and flagged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income · card limit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missing – not imputed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savings, stale product counts, 900% card 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if no product else missing; recount from flags; set missing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760720" y="56235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B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is in reports/data_quality_log.csv and is checked against the generator's list of injected issues.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4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SEGMENTATION MODEL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Two axes – what a customer is worth and how engaged they are – give six segments with a clear action each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236269" cy="237744"/>
          </a:xfrm>
          <a:prstGeom prst="roundRect">
            <a:avLst>
              <a:gd name="adj" fmla="val 46154"/>
            </a:avLst>
          </a:prstGeom>
          <a:solidFill>
            <a:srgbClr val="EFE9FB"/>
          </a:solidFill>
          <a:ln w="12700">
            <a:solidFill>
              <a:srgbClr val="EFE9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81328"/>
            <a:ext cx="12362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4B3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ASSUMPTION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502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axis: estimated annual revenue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× illustrative margins (current account 2.5%, savings 1.2%, mortgage 1.1%, loans 4.5%, investments 0.75% fee) + card interchange. Bands: High ≥ $1,500 · Mid ≥ $400.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175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axis: Relationship Engagement Index (0–100)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30 (halves every 30 days) · frequency 20 · digital 15 · product adoption 20 · loyalty 15. Bands: High ≥ 70 · Mid ≥ 50.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alternative weightings keep 84–90% of customers in the same segment; value cut-offs ±20%: 93–94%; engagement cut-offs ±5 points: 79–80% – the engagement cut-off is the most sensitive choice. </a:t>
            </a:r>
            <a:pPr indent="0" marL="0">
              <a:buNone/>
            </a:pPr>
            <a:r>
              <a:rPr lang="en-US" sz="12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finds little natural structure (silhouette 0.20–0.22; agreement ARI 0.18), so transparent rules were kept: each segment maps to an action.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720840" y="1783080"/>
            <a:ext cx="1545336" cy="1207008"/>
          </a:xfrm>
          <a:prstGeom prst="rect">
            <a:avLst/>
          </a:prstGeom>
          <a:solidFill>
            <a:srgbClr val="1BAF7A">
              <a:alpha val="8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93992" y="1856232"/>
            <a:ext cx="139903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Affluent Drifters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321040" y="1783080"/>
            <a:ext cx="1545336" cy="1207008"/>
          </a:xfrm>
          <a:prstGeom prst="rect">
            <a:avLst/>
          </a:prstGeom>
          <a:solidFill>
            <a:srgbClr val="EB6834">
              <a:alpha val="8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1856232"/>
            <a:ext cx="139903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Core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921240" y="1783080"/>
            <a:ext cx="1545336" cy="1207008"/>
          </a:xfrm>
          <a:prstGeom prst="rect">
            <a:avLst/>
          </a:prstGeom>
          <a:solidFill>
            <a:srgbClr val="2A78D6">
              <a:alpha val="8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994392" y="1856232"/>
            <a:ext cx="139903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Advocates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20840" y="3044952"/>
            <a:ext cx="1545336" cy="1207008"/>
          </a:xfrm>
          <a:prstGeom prst="rect">
            <a:avLst/>
          </a:prstGeom>
          <a:solidFill>
            <a:srgbClr val="E87BA4">
              <a:alpha val="8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93992" y="3118104"/>
            <a:ext cx="139903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Touch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321040" y="3044952"/>
            <a:ext cx="1545336" cy="1207008"/>
          </a:xfrm>
          <a:prstGeom prst="rect">
            <a:avLst/>
          </a:prstGeom>
          <a:solidFill>
            <a:srgbClr val="EB6834">
              <a:alpha val="8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94192" y="3118104"/>
            <a:ext cx="139903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Core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921240" y="3044952"/>
            <a:ext cx="1545336" cy="1207008"/>
          </a:xfrm>
          <a:prstGeom prst="rect">
            <a:avLst/>
          </a:prstGeom>
          <a:solidFill>
            <a:srgbClr val="EDA100">
              <a:alpha val="8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994392" y="3118104"/>
            <a:ext cx="139903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 Builders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720840" y="4306824"/>
            <a:ext cx="1545336" cy="1207008"/>
          </a:xfrm>
          <a:prstGeom prst="rect">
            <a:avLst/>
          </a:prstGeom>
          <a:solidFill>
            <a:srgbClr val="008300">
              <a:alpha val="8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93992" y="4379976"/>
            <a:ext cx="139903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&amp; Low Value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321040" y="4306824"/>
            <a:ext cx="1545336" cy="1207008"/>
          </a:xfrm>
          <a:prstGeom prst="rect">
            <a:avLst/>
          </a:prstGeom>
          <a:solidFill>
            <a:srgbClr val="E87BA4">
              <a:alpha val="8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94192" y="4379976"/>
            <a:ext cx="139903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Touch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921240" y="4306824"/>
            <a:ext cx="1545336" cy="1207008"/>
          </a:xfrm>
          <a:prstGeom prst="rect">
            <a:avLst/>
          </a:prstGeom>
          <a:solidFill>
            <a:srgbClr val="EDA100">
              <a:alpha val="8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94392" y="4379976"/>
            <a:ext cx="139903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 Builders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0" y="219456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0" y="3456432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value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4718304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value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6720840" y="5586984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engagement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8321040" y="5586984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9921240" y="5586984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engagement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720840" y="5989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7B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table in src/config.py; rebuilt with live formulas in the Excel workings.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4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KEY FINDINGS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Value is concentrated, and the costliest risk sits with wealthy customers who have gone quiet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565453" cy="237744"/>
          </a:xfrm>
          <a:prstGeom prst="roundRect">
            <a:avLst>
              <a:gd name="adj" fmla="val 46154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81328"/>
            <a:ext cx="15654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1C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OBSERVATION</a:t>
            </a:r>
            <a:endParaRPr lang="en-US" sz="8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828800"/>
          <a:ext cx="60350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766560" y="1481328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931152" y="1664208"/>
            <a:ext cx="182880" cy="18288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242048" y="157276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Advocates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 of customers hold 42% of revenue; attrition only 2.2%. Protect and reward.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766560" y="2670048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31152" y="2852928"/>
            <a:ext cx="182880" cy="18288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242048" y="276148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Affluent Drifters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4.6% of customers, 12% of revenue – median 162 days since a transaction and 28% attrition.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766560" y="3858768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931152" y="4041648"/>
            <a:ext cx="182880" cy="18288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242048" y="395020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 Builders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engaged (REI 76; 84% main bank) but median revenue only $687 – the cross-sell pool.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766560" y="5047488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931152" y="5230368"/>
            <a:ext cx="182880" cy="182880"/>
          </a:xfrm>
          <a:prstGeom prst="ellipse">
            <a:avLst/>
          </a:prstGeom>
          <a:solidFill>
            <a:srgbClr val="E87BA4"/>
          </a:solidFill>
          <a:ln w="12700">
            <a:solidFill>
              <a:srgbClr val="E87BA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242048" y="5138928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Touch + Dormant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of customers but 7% of revenue – low-cost digital servicing.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4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RETENTION WARNING SIGNALS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400 customers flagged as high risk; $533k of annual revenue is at risk (expected)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565453" cy="237744"/>
          </a:xfrm>
          <a:prstGeom prst="roundRect">
            <a:avLst>
              <a:gd name="adj" fmla="val 46154"/>
            </a:avLst>
          </a:prstGeom>
          <a:solidFill>
            <a:srgbClr val="E8F1FB"/>
          </a:solidFill>
          <a:ln w="12700">
            <a:solidFill>
              <a:srgbClr val="E8F1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81328"/>
            <a:ext cx="156545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1C4F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OBSERVATION</a:t>
            </a:r>
            <a:endParaRPr lang="en-US" sz="8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783080"/>
          <a:ext cx="6035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7607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B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card utilisation flags only 5 customers and adds no risk here – not every intuitive signal earns its place.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766560" y="1481328"/>
            <a:ext cx="1236269" cy="237744"/>
          </a:xfrm>
          <a:prstGeom prst="roundRect">
            <a:avLst>
              <a:gd name="adj" fmla="val 46154"/>
            </a:avLst>
          </a:prstGeom>
          <a:solidFill>
            <a:srgbClr val="EFE9FB"/>
          </a:solidFill>
          <a:ln w="12700">
            <a:solidFill>
              <a:srgbClr val="EFE9F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66560" y="1481328"/>
            <a:ext cx="123626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4B3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ASSUMPTION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6766560" y="1828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0.81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366760" y="18745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AUC – logistic regression on 9 engagement and value features, 30% held-out test set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766560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3.8×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8366760" y="297180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 in the top 10% of risk scores vs the average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766560" y="40233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8366760" y="406908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at risk sits with Affluent Drifters ($181k), 33% with Established Core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766560" y="516636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BEDED"/>
          </a:solidFill>
          <a:ln w="12700">
            <a:solidFill>
              <a:srgbClr val="FBEDE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49440" y="525780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0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with care: </a:t>
            </a:r>
            <a:pPr indent="0" marL="0">
              <a:buNone/>
            </a:pPr>
            <a:r>
              <a:rPr lang="en-US" sz="120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 was simulated from the same hidden traits as the features, so this proves the method, not real-world accuracy.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4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RETENTION AND GROWTH OPPORTUNITIES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Three interventions worth testing – sized on stated assumptions, then proven with a holdout pilot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972922" cy="237744"/>
          </a:xfrm>
          <a:prstGeom prst="roundRect">
            <a:avLst>
              <a:gd name="adj" fmla="val 46154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81328"/>
            <a:ext cx="97292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50" kern="0" dirty="0">
                <a:solidFill>
                  <a:srgbClr val="7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66160" cy="2606040"/>
          </a:xfrm>
          <a:prstGeom prst="roundRect">
            <a:avLst>
              <a:gd name="adj" fmla="val 2807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029968"/>
            <a:ext cx="182880" cy="18288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4128" y="19568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Affluent Drifters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331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Relationship-manager re-engagement call + needs review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49808" y="2880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$45k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annual revenue protected (USD)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373075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Assumption: </a:t>
            </a:r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cuts their attrition probability by 25% (relative)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97680" y="1828800"/>
            <a:ext cx="3566160" cy="2606040"/>
          </a:xfrm>
          <a:prstGeom prst="roundRect">
            <a:avLst>
              <a:gd name="adj" fmla="val 2807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98848" y="2029968"/>
            <a:ext cx="182880" cy="182880"/>
          </a:xfrm>
          <a:prstGeom prst="ellipse">
            <a:avLst/>
          </a:prstGeom>
          <a:solidFill>
            <a:srgbClr val="EDA100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73168" y="19568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Engaged Builders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498848" y="2331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cross-sell of one savings or card product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498848" y="2880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$10k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4498848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annual revenue (USD)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498848" y="373075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Assumption: </a:t>
            </a:r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take up one product worth USD 180 a year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46720" y="1828800"/>
            <a:ext cx="3566160" cy="2606040"/>
          </a:xfrm>
          <a:prstGeom prst="roundRect">
            <a:avLst>
              <a:gd name="adj" fmla="val 2807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47888" y="2029968"/>
            <a:ext cx="182880" cy="182880"/>
          </a:xfrm>
          <a:prstGeom prst="ellipse">
            <a:avLst/>
          </a:prstGeom>
          <a:solidFill>
            <a:srgbClr val="E87BA4"/>
          </a:solidFill>
          <a:ln w="12700">
            <a:solidFill>
              <a:srgbClr val="E87BA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22208" y="19568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Touch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247888" y="23317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activation (app onboarding, e-statements, bill-pay set-up)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247888" y="2880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≈5</a:t>
            </a:r>
            <a:endParaRPr lang="en-US" sz="2800" dirty="0"/>
          </a:p>
        </p:txBody>
      </p:sp>
      <p:sp>
        <p:nvSpPr>
          <p:cNvPr id="25" name="Text 23"/>
          <p:cNvSpPr txBox="1"/>
          <p:nvPr/>
        </p:nvSpPr>
        <p:spPr>
          <a:xfrm>
            <a:off x="8247888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retained (expected)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247888" y="373075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Assumption: </a:t>
            </a:r>
            <a:pPr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become regular app users; their model risk falls to that of current regular app users in the segment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617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pilot: random 50/50 treatment vs holdout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983480"/>
          <a:ext cx="75895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554480"/>
                <a:gridCol w="1097280"/>
                <a:gridCol w="173736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 / holdout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Smallest detectable change*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B5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Affluent Drifters RM outreach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 / 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±18.7 pts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 Touch digital activation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548 / 547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±5.2 pts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Engaged Builders cross-sell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273 / 273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±5.2 pts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 txBox="1"/>
          <p:nvPr/>
        </p:nvSpPr>
        <p:spPr>
          <a:xfrm>
            <a:off x="8412480" y="498348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B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95% confidence, 80% power; indicative. The Affluent Drifters cell is small, so only a large effect would show – pool cells or run longer.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4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LIMITATIONS AND RECOMMENDATIONS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2"/>
                </a:solidFill>
              </a:rPr>
              <a:t>A reusable framework – to be validated on real, governed data before any decision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3657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data: relationships exist because the generator created them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proxy relies on illustrative margins, not real pricing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cut-offs are judgement calls (tested, but still choices)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model is associative, not causal; untested on real customers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values are assumption-driven, not forecasts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443484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434840" y="192024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the pipeline on governed real data; recalibrate margins with Finance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Affluent Drifters for relationship-manager outreach – via a holdout pilot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Engaged Builders as the cross-sell test pool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the four strongest warning signals monthly; re-fit the model on observed outcomes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fairness and privacy review before any model drives customer treatment</a:t>
            </a:r>
            <a:endParaRPr lang="en-US" sz="1250" dirty="0"/>
          </a:p>
        </p:txBody>
      </p:sp>
      <p:pic>
        <p:nvPicPr>
          <p:cNvPr id="8" name="Image 0" descr="Screenshot of the interactive dashboard: segment map, KPI tiles and segment profile tables (synthetic data)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66760" y="1600200"/>
            <a:ext cx="3246120" cy="347597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66760" y="516636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7B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dashboard: dashboard/index.html (filters by region, age, main bank and segment)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5349240"/>
            <a:ext cx="7589520" cy="868680"/>
          </a:xfrm>
          <a:prstGeom prst="roundRect">
            <a:avLst>
              <a:gd name="adj" fmla="val 8421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5413248"/>
            <a:ext cx="7223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project: </a:t>
            </a:r>
            <a:pPr indent="0" marL="0">
              <a:buNone/>
            </a:pPr>
            <a:r>
              <a:rPr lang="en-US" sz="11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directed by Ahsan Anas; code, synthetic data and documents generated with AI assistance (Claude) and reviewed by the author. Reproduce everything with python -m src.run_all.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4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rtfolio">
  <a:themeElements>
    <a:clrScheme name="Portfolio">
      <a:dk1>
        <a:srgbClr val="0F1B2A"/>
      </a:dk1>
      <a:lt1>
        <a:srgbClr val="FFFFFF"/>
      </a:lt1>
      <a:dk2>
        <a:srgbClr val="0F3B57"/>
      </a:dk2>
      <a:lt2>
        <a:srgbClr val="F1F3F6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E87BA4"/>
      </a:accent5>
      <a:accent6>
        <a:srgbClr val="008300"/>
      </a:accent6>
      <a:hlink>
        <a:srgbClr val="2A78D6"/>
      </a:hlink>
      <a:folHlink>
        <a:srgbClr val="4B3A9A"/>
      </a:folHlink>
    </a:clrScheme>
    <a:fontScheme name="Portfoli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Segmentation &amp; Retention Analytics – case study (synthetic data)</dc:title>
  <dc:subject>PptxGenJS Presentation</dc:subject>
  <dc:creator>Ahsan Anas</dc:creator>
  <cp:lastModifiedBy>Ahsan Anas</cp:lastModifiedBy>
  <cp:revision>1</cp:revision>
  <dcterms:created xsi:type="dcterms:W3CDTF">2026-10-19T13:44:29Z</dcterms:created>
  <dcterms:modified xsi:type="dcterms:W3CDTF">2026-10-19T13:44:29Z</dcterms:modified>
</cp:coreProperties>
</file>